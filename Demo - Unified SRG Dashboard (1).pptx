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1" r:id="rId1"/>
  </p:sldMasterIdLst>
  <p:notesMasterIdLst>
    <p:notesMasterId r:id="rId7"/>
  </p:notesMasterIdLst>
  <p:handoutMasterIdLst>
    <p:handoutMasterId r:id="rId8"/>
  </p:handoutMasterIdLst>
  <p:sldIdLst>
    <p:sldId id="495" r:id="rId2"/>
    <p:sldId id="521" r:id="rId3"/>
    <p:sldId id="522" r:id="rId4"/>
    <p:sldId id="523" r:id="rId5"/>
    <p:sldId id="505" r:id="rId6"/>
  </p:sldIdLst>
  <p:sldSz cx="9144000" cy="5148263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mal Sheth" initials="KS" lastIdx="2" clrIdx="0"/>
  <p:cmAuthor id="1" name="Raunaq Lalwani" initials="RL" lastIdx="1" clrIdx="1"/>
  <p:cmAuthor id="2" name="Vinod Nandkumar Pandit" initials="VNP" lastIdx="4" clrIdx="2">
    <p:extLst>
      <p:ext uri="{19B8F6BF-5375-455C-9EA6-DF929625EA0E}">
        <p15:presenceInfo xmlns:p15="http://schemas.microsoft.com/office/powerpoint/2012/main" userId="S::vinodpan@cybage.com::4515e559-fe67-40d6-96a6-4ccfbd2da5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99"/>
    <a:srgbClr val="8AC452"/>
    <a:srgbClr val="FFFF66"/>
    <a:srgbClr val="5B9BD5"/>
    <a:srgbClr val="20CF7B"/>
    <a:srgbClr val="F1F3B3"/>
    <a:srgbClr val="95B3D7"/>
    <a:srgbClr val="343E48"/>
    <a:srgbClr val="DA9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04" y="52"/>
      </p:cViewPr>
      <p:guideLst>
        <p:guide orient="horz" pos="1621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A71EC-B742-4133-9E6C-90F1DBAFB4A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234C2-1B27-49ED-96B7-62A7140D60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22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18BC-CA5B-4366-8753-59C3030BCD2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D5D0D-FC66-42B3-B045-24D03264CE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148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5D0D-FC66-42B3-B045-24D03264CE9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7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BB20-83A9-D151-6CE2-C76F910B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17FC1-8F82-1ED3-5631-574C4E299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AEA88-F6FC-FBC2-9BE8-76E761995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AEBBE-9EEA-CCD4-036F-B9335D8CE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5D0D-FC66-42B3-B045-24D03264CE9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46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614E-628E-A708-4789-F2339703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8C7A9-63F2-9D7B-447B-6596268B9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2D692-BD61-5826-F4BB-02052FC45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8EBD2-5541-F927-8A30-7C83A6D45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5D0D-FC66-42B3-B045-24D03264CE9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40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655050" y="4797125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1"/>
            <a:ext cx="9148763" cy="5143500"/>
          </a:xfrm>
          <a:prstGeom prst="rect">
            <a:avLst/>
          </a:prstGeom>
        </p:spPr>
      </p:pic>
      <p:sp>
        <p:nvSpPr>
          <p:cNvPr id="9" name="Footer Placeholder 3"/>
          <p:cNvSpPr txBox="1">
            <a:spLocks noGrp="1"/>
          </p:cNvSpPr>
          <p:nvPr userDrawn="1"/>
        </p:nvSpPr>
        <p:spPr bwMode="auto">
          <a:xfrm>
            <a:off x="100866" y="4902609"/>
            <a:ext cx="4156364" cy="16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1573" rIns="0" bIns="41573"/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 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053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6"/>
          <a:stretch/>
        </p:blipFill>
        <p:spPr>
          <a:xfrm flipH="1">
            <a:off x="0" y="2934367"/>
            <a:ext cx="8399280" cy="21536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40"/>
            <a:ext cx="9143998" cy="514558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450" y="-35763"/>
            <a:ext cx="5893064" cy="317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en-GB" sz="12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769350" y="4870374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80"/>
          <a:stretch/>
        </p:blipFill>
        <p:spPr>
          <a:xfrm>
            <a:off x="1139168" y="275521"/>
            <a:ext cx="8004832" cy="1314219"/>
          </a:xfrm>
          <a:prstGeom prst="rect">
            <a:avLst/>
          </a:prstGeom>
        </p:spPr>
      </p:pic>
      <p:sp>
        <p:nvSpPr>
          <p:cNvPr id="10" name="Footer Placeholder 3"/>
          <p:cNvSpPr txBox="1">
            <a:spLocks noGrp="1"/>
          </p:cNvSpPr>
          <p:nvPr userDrawn="1"/>
        </p:nvSpPr>
        <p:spPr bwMode="auto">
          <a:xfrm>
            <a:off x="82550" y="4902609"/>
            <a:ext cx="4156364" cy="16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1573" rIns="0" bIns="41573"/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 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.</a:t>
            </a:r>
          </a:p>
        </p:txBody>
      </p:sp>
      <p:sp>
        <p:nvSpPr>
          <p:cNvPr id="11" name="Freeform 13">
            <a:hlinkClick r:id="" action="ppaction://noaction"/>
          </p:cNvPr>
          <p:cNvSpPr>
            <a:spLocks/>
          </p:cNvSpPr>
          <p:nvPr userDrawn="1"/>
        </p:nvSpPr>
        <p:spPr bwMode="auto">
          <a:xfrm>
            <a:off x="8899742" y="79600"/>
            <a:ext cx="142122" cy="135553"/>
          </a:xfrm>
          <a:custGeom>
            <a:avLst/>
            <a:gdLst>
              <a:gd name="T0" fmla="*/ 2030 w 4061"/>
              <a:gd name="T1" fmla="*/ 0 h 3431"/>
              <a:gd name="T2" fmla="*/ 2793 w 4061"/>
              <a:gd name="T3" fmla="*/ 762 h 3431"/>
              <a:gd name="T4" fmla="*/ 2793 w 4061"/>
              <a:gd name="T5" fmla="*/ 127 h 3431"/>
              <a:gd name="T6" fmla="*/ 3300 w 4061"/>
              <a:gd name="T7" fmla="*/ 127 h 3431"/>
              <a:gd name="T8" fmla="*/ 3300 w 4061"/>
              <a:gd name="T9" fmla="*/ 1271 h 3431"/>
              <a:gd name="T10" fmla="*/ 4061 w 4061"/>
              <a:gd name="T11" fmla="*/ 2033 h 3431"/>
              <a:gd name="T12" fmla="*/ 4061 w 4061"/>
              <a:gd name="T13" fmla="*/ 2160 h 3431"/>
              <a:gd name="T14" fmla="*/ 3554 w 4061"/>
              <a:gd name="T15" fmla="*/ 2160 h 3431"/>
              <a:gd name="T16" fmla="*/ 3554 w 4061"/>
              <a:gd name="T17" fmla="*/ 3431 h 3431"/>
              <a:gd name="T18" fmla="*/ 2284 w 4061"/>
              <a:gd name="T19" fmla="*/ 3431 h 3431"/>
              <a:gd name="T20" fmla="*/ 2284 w 4061"/>
              <a:gd name="T21" fmla="*/ 2669 h 3431"/>
              <a:gd name="T22" fmla="*/ 1776 w 4061"/>
              <a:gd name="T23" fmla="*/ 2669 h 3431"/>
              <a:gd name="T24" fmla="*/ 1776 w 4061"/>
              <a:gd name="T25" fmla="*/ 3431 h 3431"/>
              <a:gd name="T26" fmla="*/ 508 w 4061"/>
              <a:gd name="T27" fmla="*/ 3431 h 3431"/>
              <a:gd name="T28" fmla="*/ 508 w 4061"/>
              <a:gd name="T29" fmla="*/ 2160 h 3431"/>
              <a:gd name="T30" fmla="*/ 0 w 4061"/>
              <a:gd name="T31" fmla="*/ 2160 h 3431"/>
              <a:gd name="T32" fmla="*/ 0 w 4061"/>
              <a:gd name="T33" fmla="*/ 2033 h 3431"/>
              <a:gd name="T34" fmla="*/ 2030 w 4061"/>
              <a:gd name="T35" fmla="*/ 0 h 3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61" h="3431">
                <a:moveTo>
                  <a:pt x="2030" y="0"/>
                </a:moveTo>
                <a:lnTo>
                  <a:pt x="2793" y="762"/>
                </a:lnTo>
                <a:lnTo>
                  <a:pt x="2793" y="127"/>
                </a:lnTo>
                <a:lnTo>
                  <a:pt x="3300" y="127"/>
                </a:lnTo>
                <a:lnTo>
                  <a:pt x="3300" y="1271"/>
                </a:lnTo>
                <a:lnTo>
                  <a:pt x="4061" y="2033"/>
                </a:lnTo>
                <a:lnTo>
                  <a:pt x="4061" y="2160"/>
                </a:lnTo>
                <a:lnTo>
                  <a:pt x="3554" y="2160"/>
                </a:lnTo>
                <a:lnTo>
                  <a:pt x="3554" y="3431"/>
                </a:lnTo>
                <a:lnTo>
                  <a:pt x="2284" y="3431"/>
                </a:lnTo>
                <a:lnTo>
                  <a:pt x="2284" y="2669"/>
                </a:lnTo>
                <a:lnTo>
                  <a:pt x="1776" y="2669"/>
                </a:lnTo>
                <a:lnTo>
                  <a:pt x="1776" y="3431"/>
                </a:lnTo>
                <a:lnTo>
                  <a:pt x="508" y="3431"/>
                </a:lnTo>
                <a:lnTo>
                  <a:pt x="508" y="2160"/>
                </a:lnTo>
                <a:lnTo>
                  <a:pt x="0" y="2160"/>
                </a:lnTo>
                <a:lnTo>
                  <a:pt x="0" y="2033"/>
                </a:lnTo>
                <a:lnTo>
                  <a:pt x="2030" y="0"/>
                </a:lnTo>
                <a:close/>
              </a:path>
            </a:pathLst>
          </a:custGeom>
          <a:solidFill>
            <a:srgbClr val="20CF7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5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6"/>
          <a:stretch/>
        </p:blipFill>
        <p:spPr>
          <a:xfrm flipH="1">
            <a:off x="0" y="2934367"/>
            <a:ext cx="8399280" cy="21536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40"/>
            <a:ext cx="9143998" cy="514558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450" y="-35763"/>
            <a:ext cx="5893064" cy="317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en-GB" sz="12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769350" y="4870374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80"/>
          <a:stretch/>
        </p:blipFill>
        <p:spPr>
          <a:xfrm>
            <a:off x="1139168" y="275521"/>
            <a:ext cx="8004832" cy="1314219"/>
          </a:xfrm>
          <a:prstGeom prst="rect">
            <a:avLst/>
          </a:prstGeom>
        </p:spPr>
      </p:pic>
      <p:sp>
        <p:nvSpPr>
          <p:cNvPr id="10" name="Freeform 13">
            <a:hlinkClick r:id="" action="ppaction://noaction"/>
          </p:cNvPr>
          <p:cNvSpPr>
            <a:spLocks/>
          </p:cNvSpPr>
          <p:nvPr userDrawn="1"/>
        </p:nvSpPr>
        <p:spPr bwMode="auto">
          <a:xfrm>
            <a:off x="8899742" y="79600"/>
            <a:ext cx="142122" cy="135553"/>
          </a:xfrm>
          <a:custGeom>
            <a:avLst/>
            <a:gdLst>
              <a:gd name="T0" fmla="*/ 2030 w 4061"/>
              <a:gd name="T1" fmla="*/ 0 h 3431"/>
              <a:gd name="T2" fmla="*/ 2793 w 4061"/>
              <a:gd name="T3" fmla="*/ 762 h 3431"/>
              <a:gd name="T4" fmla="*/ 2793 w 4061"/>
              <a:gd name="T5" fmla="*/ 127 h 3431"/>
              <a:gd name="T6" fmla="*/ 3300 w 4061"/>
              <a:gd name="T7" fmla="*/ 127 h 3431"/>
              <a:gd name="T8" fmla="*/ 3300 w 4061"/>
              <a:gd name="T9" fmla="*/ 1271 h 3431"/>
              <a:gd name="T10" fmla="*/ 4061 w 4061"/>
              <a:gd name="T11" fmla="*/ 2033 h 3431"/>
              <a:gd name="T12" fmla="*/ 4061 w 4061"/>
              <a:gd name="T13" fmla="*/ 2160 h 3431"/>
              <a:gd name="T14" fmla="*/ 3554 w 4061"/>
              <a:gd name="T15" fmla="*/ 2160 h 3431"/>
              <a:gd name="T16" fmla="*/ 3554 w 4061"/>
              <a:gd name="T17" fmla="*/ 3431 h 3431"/>
              <a:gd name="T18" fmla="*/ 2284 w 4061"/>
              <a:gd name="T19" fmla="*/ 3431 h 3431"/>
              <a:gd name="T20" fmla="*/ 2284 w 4061"/>
              <a:gd name="T21" fmla="*/ 2669 h 3431"/>
              <a:gd name="T22" fmla="*/ 1776 w 4061"/>
              <a:gd name="T23" fmla="*/ 2669 h 3431"/>
              <a:gd name="T24" fmla="*/ 1776 w 4061"/>
              <a:gd name="T25" fmla="*/ 3431 h 3431"/>
              <a:gd name="T26" fmla="*/ 508 w 4061"/>
              <a:gd name="T27" fmla="*/ 3431 h 3431"/>
              <a:gd name="T28" fmla="*/ 508 w 4061"/>
              <a:gd name="T29" fmla="*/ 2160 h 3431"/>
              <a:gd name="T30" fmla="*/ 0 w 4061"/>
              <a:gd name="T31" fmla="*/ 2160 h 3431"/>
              <a:gd name="T32" fmla="*/ 0 w 4061"/>
              <a:gd name="T33" fmla="*/ 2033 h 3431"/>
              <a:gd name="T34" fmla="*/ 2030 w 4061"/>
              <a:gd name="T35" fmla="*/ 0 h 3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61" h="3431">
                <a:moveTo>
                  <a:pt x="2030" y="0"/>
                </a:moveTo>
                <a:lnTo>
                  <a:pt x="2793" y="762"/>
                </a:lnTo>
                <a:lnTo>
                  <a:pt x="2793" y="127"/>
                </a:lnTo>
                <a:lnTo>
                  <a:pt x="3300" y="127"/>
                </a:lnTo>
                <a:lnTo>
                  <a:pt x="3300" y="1271"/>
                </a:lnTo>
                <a:lnTo>
                  <a:pt x="4061" y="2033"/>
                </a:lnTo>
                <a:lnTo>
                  <a:pt x="4061" y="2160"/>
                </a:lnTo>
                <a:lnTo>
                  <a:pt x="3554" y="2160"/>
                </a:lnTo>
                <a:lnTo>
                  <a:pt x="3554" y="3431"/>
                </a:lnTo>
                <a:lnTo>
                  <a:pt x="2284" y="3431"/>
                </a:lnTo>
                <a:lnTo>
                  <a:pt x="2284" y="2669"/>
                </a:lnTo>
                <a:lnTo>
                  <a:pt x="1776" y="2669"/>
                </a:lnTo>
                <a:lnTo>
                  <a:pt x="1776" y="3431"/>
                </a:lnTo>
                <a:lnTo>
                  <a:pt x="508" y="3431"/>
                </a:lnTo>
                <a:lnTo>
                  <a:pt x="508" y="2160"/>
                </a:lnTo>
                <a:lnTo>
                  <a:pt x="0" y="2160"/>
                </a:lnTo>
                <a:lnTo>
                  <a:pt x="0" y="2033"/>
                </a:lnTo>
                <a:lnTo>
                  <a:pt x="2030" y="0"/>
                </a:lnTo>
                <a:close/>
              </a:path>
            </a:pathLst>
          </a:custGeom>
          <a:solidFill>
            <a:srgbClr val="20CF7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8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6"/>
          <a:stretch/>
        </p:blipFill>
        <p:spPr>
          <a:xfrm flipH="1">
            <a:off x="0" y="2934367"/>
            <a:ext cx="8399280" cy="21536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40"/>
            <a:ext cx="9143998" cy="514558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450" y="-35763"/>
            <a:ext cx="5893064" cy="317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en-GB" sz="12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769350" y="4870374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80"/>
          <a:stretch/>
        </p:blipFill>
        <p:spPr>
          <a:xfrm>
            <a:off x="1139168" y="275521"/>
            <a:ext cx="8004832" cy="1314219"/>
          </a:xfrm>
          <a:prstGeom prst="rect">
            <a:avLst/>
          </a:prstGeom>
        </p:spPr>
      </p:pic>
      <p:sp>
        <p:nvSpPr>
          <p:cNvPr id="10" name="Footer Placeholder 3"/>
          <p:cNvSpPr txBox="1">
            <a:spLocks noGrp="1"/>
          </p:cNvSpPr>
          <p:nvPr userDrawn="1"/>
        </p:nvSpPr>
        <p:spPr bwMode="auto">
          <a:xfrm>
            <a:off x="82550" y="4902609"/>
            <a:ext cx="4156364" cy="16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1573" rIns="0" bIns="41573"/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 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706" y="1995261"/>
            <a:ext cx="4244042" cy="3090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reeform 13">
            <a:hlinkClick r:id="" action="ppaction://noaction"/>
          </p:cNvPr>
          <p:cNvSpPr>
            <a:spLocks/>
          </p:cNvSpPr>
          <p:nvPr userDrawn="1"/>
        </p:nvSpPr>
        <p:spPr bwMode="auto">
          <a:xfrm>
            <a:off x="8899742" y="79600"/>
            <a:ext cx="142122" cy="135553"/>
          </a:xfrm>
          <a:custGeom>
            <a:avLst/>
            <a:gdLst>
              <a:gd name="T0" fmla="*/ 2030 w 4061"/>
              <a:gd name="T1" fmla="*/ 0 h 3431"/>
              <a:gd name="T2" fmla="*/ 2793 w 4061"/>
              <a:gd name="T3" fmla="*/ 762 h 3431"/>
              <a:gd name="T4" fmla="*/ 2793 w 4061"/>
              <a:gd name="T5" fmla="*/ 127 h 3431"/>
              <a:gd name="T6" fmla="*/ 3300 w 4061"/>
              <a:gd name="T7" fmla="*/ 127 h 3431"/>
              <a:gd name="T8" fmla="*/ 3300 w 4061"/>
              <a:gd name="T9" fmla="*/ 1271 h 3431"/>
              <a:gd name="T10" fmla="*/ 4061 w 4061"/>
              <a:gd name="T11" fmla="*/ 2033 h 3431"/>
              <a:gd name="T12" fmla="*/ 4061 w 4061"/>
              <a:gd name="T13" fmla="*/ 2160 h 3431"/>
              <a:gd name="T14" fmla="*/ 3554 w 4061"/>
              <a:gd name="T15" fmla="*/ 2160 h 3431"/>
              <a:gd name="T16" fmla="*/ 3554 w 4061"/>
              <a:gd name="T17" fmla="*/ 3431 h 3431"/>
              <a:gd name="T18" fmla="*/ 2284 w 4061"/>
              <a:gd name="T19" fmla="*/ 3431 h 3431"/>
              <a:gd name="T20" fmla="*/ 2284 w 4061"/>
              <a:gd name="T21" fmla="*/ 2669 h 3431"/>
              <a:gd name="T22" fmla="*/ 1776 w 4061"/>
              <a:gd name="T23" fmla="*/ 2669 h 3431"/>
              <a:gd name="T24" fmla="*/ 1776 w 4061"/>
              <a:gd name="T25" fmla="*/ 3431 h 3431"/>
              <a:gd name="T26" fmla="*/ 508 w 4061"/>
              <a:gd name="T27" fmla="*/ 3431 h 3431"/>
              <a:gd name="T28" fmla="*/ 508 w 4061"/>
              <a:gd name="T29" fmla="*/ 2160 h 3431"/>
              <a:gd name="T30" fmla="*/ 0 w 4061"/>
              <a:gd name="T31" fmla="*/ 2160 h 3431"/>
              <a:gd name="T32" fmla="*/ 0 w 4061"/>
              <a:gd name="T33" fmla="*/ 2033 h 3431"/>
              <a:gd name="T34" fmla="*/ 2030 w 4061"/>
              <a:gd name="T35" fmla="*/ 0 h 3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61" h="3431">
                <a:moveTo>
                  <a:pt x="2030" y="0"/>
                </a:moveTo>
                <a:lnTo>
                  <a:pt x="2793" y="762"/>
                </a:lnTo>
                <a:lnTo>
                  <a:pt x="2793" y="127"/>
                </a:lnTo>
                <a:lnTo>
                  <a:pt x="3300" y="127"/>
                </a:lnTo>
                <a:lnTo>
                  <a:pt x="3300" y="1271"/>
                </a:lnTo>
                <a:lnTo>
                  <a:pt x="4061" y="2033"/>
                </a:lnTo>
                <a:lnTo>
                  <a:pt x="4061" y="2160"/>
                </a:lnTo>
                <a:lnTo>
                  <a:pt x="3554" y="2160"/>
                </a:lnTo>
                <a:lnTo>
                  <a:pt x="3554" y="3431"/>
                </a:lnTo>
                <a:lnTo>
                  <a:pt x="2284" y="3431"/>
                </a:lnTo>
                <a:lnTo>
                  <a:pt x="2284" y="2669"/>
                </a:lnTo>
                <a:lnTo>
                  <a:pt x="1776" y="2669"/>
                </a:lnTo>
                <a:lnTo>
                  <a:pt x="1776" y="3431"/>
                </a:lnTo>
                <a:lnTo>
                  <a:pt x="508" y="3431"/>
                </a:lnTo>
                <a:lnTo>
                  <a:pt x="508" y="2160"/>
                </a:lnTo>
                <a:lnTo>
                  <a:pt x="0" y="2160"/>
                </a:lnTo>
                <a:lnTo>
                  <a:pt x="0" y="2033"/>
                </a:lnTo>
                <a:lnTo>
                  <a:pt x="2030" y="0"/>
                </a:lnTo>
                <a:close/>
              </a:path>
            </a:pathLst>
          </a:custGeom>
          <a:solidFill>
            <a:srgbClr val="20CF7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3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"/>
            <a:ext cx="9168384" cy="5157216"/>
          </a:xfrm>
          <a:prstGeom prst="rect">
            <a:avLst/>
          </a:prstGeom>
        </p:spPr>
      </p:pic>
      <p:sp>
        <p:nvSpPr>
          <p:cNvPr id="3" name="Footer Placeholder 3"/>
          <p:cNvSpPr txBox="1">
            <a:spLocks noGrp="1"/>
          </p:cNvSpPr>
          <p:nvPr userDrawn="1"/>
        </p:nvSpPr>
        <p:spPr bwMode="auto">
          <a:xfrm>
            <a:off x="100866" y="4902609"/>
            <a:ext cx="4156364" cy="16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1573" rIns="0" bIns="41573"/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 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64" y="0"/>
            <a:ext cx="918942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655050" y="4797125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28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"/>
            <a:ext cx="9168384" cy="5157216"/>
          </a:xfrm>
          <a:prstGeom prst="rect">
            <a:avLst/>
          </a:prstGeom>
        </p:spPr>
      </p:pic>
      <p:sp>
        <p:nvSpPr>
          <p:cNvPr id="3" name="Footer Placeholder 3"/>
          <p:cNvSpPr txBox="1">
            <a:spLocks noGrp="1"/>
          </p:cNvSpPr>
          <p:nvPr userDrawn="1"/>
        </p:nvSpPr>
        <p:spPr bwMode="auto">
          <a:xfrm>
            <a:off x="100866" y="4902609"/>
            <a:ext cx="4156364" cy="16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1573" rIns="0" bIns="41573"/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 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Kozuka Gothic Pro M" pitchFamily="34" charset="-128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64" y="0"/>
            <a:ext cx="918942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655050" y="4797125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26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"/>
            <a:ext cx="9168384" cy="5157216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1"/>
            <a:ext cx="6637020" cy="5158740"/>
          </a:xfrm>
          <a:custGeom>
            <a:avLst/>
            <a:gdLst>
              <a:gd name="connsiteX0" fmla="*/ 0 w 1571812"/>
              <a:gd name="connsiteY0" fmla="*/ 0 h 5148263"/>
              <a:gd name="connsiteX1" fmla="*/ 1571812 w 1571812"/>
              <a:gd name="connsiteY1" fmla="*/ 0 h 5148263"/>
              <a:gd name="connsiteX2" fmla="*/ 1571812 w 1571812"/>
              <a:gd name="connsiteY2" fmla="*/ 5148263 h 5148263"/>
              <a:gd name="connsiteX3" fmla="*/ 0 w 1571812"/>
              <a:gd name="connsiteY3" fmla="*/ 5148263 h 5148263"/>
              <a:gd name="connsiteX4" fmla="*/ 0 w 1571812"/>
              <a:gd name="connsiteY4" fmla="*/ 0 h 5148263"/>
              <a:gd name="connsiteX0" fmla="*/ 0 w 1571812"/>
              <a:gd name="connsiteY0" fmla="*/ 0 h 5148263"/>
              <a:gd name="connsiteX1" fmla="*/ 1167952 w 1571812"/>
              <a:gd name="connsiteY1" fmla="*/ 449580 h 5148263"/>
              <a:gd name="connsiteX2" fmla="*/ 1571812 w 1571812"/>
              <a:gd name="connsiteY2" fmla="*/ 5148263 h 5148263"/>
              <a:gd name="connsiteX3" fmla="*/ 0 w 1571812"/>
              <a:gd name="connsiteY3" fmla="*/ 5148263 h 5148263"/>
              <a:gd name="connsiteX4" fmla="*/ 0 w 1571812"/>
              <a:gd name="connsiteY4" fmla="*/ 0 h 5148263"/>
              <a:gd name="connsiteX0" fmla="*/ 0 w 1571812"/>
              <a:gd name="connsiteY0" fmla="*/ 0 h 5148263"/>
              <a:gd name="connsiteX1" fmla="*/ 1053652 w 1571812"/>
              <a:gd name="connsiteY1" fmla="*/ 0 h 5148263"/>
              <a:gd name="connsiteX2" fmla="*/ 1571812 w 1571812"/>
              <a:gd name="connsiteY2" fmla="*/ 5148263 h 5148263"/>
              <a:gd name="connsiteX3" fmla="*/ 0 w 1571812"/>
              <a:gd name="connsiteY3" fmla="*/ 5148263 h 5148263"/>
              <a:gd name="connsiteX4" fmla="*/ 0 w 1571812"/>
              <a:gd name="connsiteY4" fmla="*/ 0 h 5148263"/>
              <a:gd name="connsiteX0" fmla="*/ 0 w 1571812"/>
              <a:gd name="connsiteY0" fmla="*/ 0 h 5148263"/>
              <a:gd name="connsiteX1" fmla="*/ 1053652 w 1571812"/>
              <a:gd name="connsiteY1" fmla="*/ 0 h 5148263"/>
              <a:gd name="connsiteX2" fmla="*/ 1287780 w 1571812"/>
              <a:gd name="connsiteY2" fmla="*/ 2438400 h 5148263"/>
              <a:gd name="connsiteX3" fmla="*/ 1571812 w 1571812"/>
              <a:gd name="connsiteY3" fmla="*/ 5148263 h 5148263"/>
              <a:gd name="connsiteX4" fmla="*/ 0 w 1571812"/>
              <a:gd name="connsiteY4" fmla="*/ 5148263 h 5148263"/>
              <a:gd name="connsiteX5" fmla="*/ 0 w 1571812"/>
              <a:gd name="connsiteY5" fmla="*/ 0 h 5148263"/>
              <a:gd name="connsiteX0" fmla="*/ 0 w 6637020"/>
              <a:gd name="connsiteY0" fmla="*/ 0 h 5148263"/>
              <a:gd name="connsiteX1" fmla="*/ 1053652 w 6637020"/>
              <a:gd name="connsiteY1" fmla="*/ 0 h 5148263"/>
              <a:gd name="connsiteX2" fmla="*/ 6637020 w 6637020"/>
              <a:gd name="connsiteY2" fmla="*/ 3611880 h 5148263"/>
              <a:gd name="connsiteX3" fmla="*/ 1571812 w 6637020"/>
              <a:gd name="connsiteY3" fmla="*/ 5148263 h 5148263"/>
              <a:gd name="connsiteX4" fmla="*/ 0 w 6637020"/>
              <a:gd name="connsiteY4" fmla="*/ 5148263 h 5148263"/>
              <a:gd name="connsiteX5" fmla="*/ 0 w 6637020"/>
              <a:gd name="connsiteY5" fmla="*/ 0 h 5148263"/>
              <a:gd name="connsiteX0" fmla="*/ 0 w 6637020"/>
              <a:gd name="connsiteY0" fmla="*/ 0 h 5148263"/>
              <a:gd name="connsiteX1" fmla="*/ 1053652 w 6637020"/>
              <a:gd name="connsiteY1" fmla="*/ 0 h 5148263"/>
              <a:gd name="connsiteX2" fmla="*/ 6637020 w 6637020"/>
              <a:gd name="connsiteY2" fmla="*/ 3611880 h 5148263"/>
              <a:gd name="connsiteX3" fmla="*/ 4061460 w 6637020"/>
              <a:gd name="connsiteY3" fmla="*/ 4389120 h 5148263"/>
              <a:gd name="connsiteX4" fmla="*/ 1571812 w 6637020"/>
              <a:gd name="connsiteY4" fmla="*/ 5148263 h 5148263"/>
              <a:gd name="connsiteX5" fmla="*/ 0 w 6637020"/>
              <a:gd name="connsiteY5" fmla="*/ 5148263 h 5148263"/>
              <a:gd name="connsiteX6" fmla="*/ 0 w 6637020"/>
              <a:gd name="connsiteY6" fmla="*/ 0 h 5148263"/>
              <a:gd name="connsiteX0" fmla="*/ 0 w 6637020"/>
              <a:gd name="connsiteY0" fmla="*/ 0 h 5158740"/>
              <a:gd name="connsiteX1" fmla="*/ 1053652 w 6637020"/>
              <a:gd name="connsiteY1" fmla="*/ 0 h 5158740"/>
              <a:gd name="connsiteX2" fmla="*/ 6637020 w 6637020"/>
              <a:gd name="connsiteY2" fmla="*/ 3611880 h 5158740"/>
              <a:gd name="connsiteX3" fmla="*/ 5646420 w 6637020"/>
              <a:gd name="connsiteY3" fmla="*/ 5158740 h 5158740"/>
              <a:gd name="connsiteX4" fmla="*/ 1571812 w 6637020"/>
              <a:gd name="connsiteY4" fmla="*/ 5148263 h 5158740"/>
              <a:gd name="connsiteX5" fmla="*/ 0 w 6637020"/>
              <a:gd name="connsiteY5" fmla="*/ 5148263 h 5158740"/>
              <a:gd name="connsiteX6" fmla="*/ 0 w 6637020"/>
              <a:gd name="connsiteY6" fmla="*/ 0 h 515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7020" h="5158740">
                <a:moveTo>
                  <a:pt x="0" y="0"/>
                </a:moveTo>
                <a:lnTo>
                  <a:pt x="1053652" y="0"/>
                </a:lnTo>
                <a:lnTo>
                  <a:pt x="6637020" y="3611880"/>
                </a:lnTo>
                <a:lnTo>
                  <a:pt x="5646420" y="5158740"/>
                </a:lnTo>
                <a:lnTo>
                  <a:pt x="1571812" y="5148263"/>
                </a:lnTo>
                <a:lnTo>
                  <a:pt x="0" y="514826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-22303"/>
            <a:ext cx="9211243" cy="518342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115606" y="4969947"/>
            <a:ext cx="44723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98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Cybage CIN : U72200MH1996PTC104374</a:t>
            </a:r>
            <a:r>
              <a:rPr lang="en-US" sz="600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2018. Cybage Software Pvt. Ltd. All Rights Reserved. Cybage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2008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0"/>
            <a:ext cx="9144000" cy="514558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450" y="-35763"/>
            <a:ext cx="5893064" cy="317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en-GB" sz="12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769350" y="4870374"/>
            <a:ext cx="3873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CE7972D0-E453-422B-8A7C-5D5AB2C15513}" type="slidenum">
              <a:rPr lang="en-US" sz="9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algn="ctr"/>
              <a:t>‹#›</a:t>
            </a:fld>
            <a:endParaRPr lang="en-US" sz="900" kern="120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80"/>
          <a:stretch/>
        </p:blipFill>
        <p:spPr>
          <a:xfrm>
            <a:off x="1139168" y="275521"/>
            <a:ext cx="8004832" cy="13142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6"/>
          <a:stretch/>
        </p:blipFill>
        <p:spPr>
          <a:xfrm flipH="1">
            <a:off x="0" y="2934367"/>
            <a:ext cx="8399280" cy="2153653"/>
          </a:xfrm>
          <a:prstGeom prst="rect">
            <a:avLst/>
          </a:prstGeom>
        </p:spPr>
      </p:pic>
      <p:sp>
        <p:nvSpPr>
          <p:cNvPr id="10" name="Freeform 13">
            <a:hlinkClick r:id="" action="ppaction://noaction"/>
          </p:cNvPr>
          <p:cNvSpPr>
            <a:spLocks/>
          </p:cNvSpPr>
          <p:nvPr userDrawn="1"/>
        </p:nvSpPr>
        <p:spPr bwMode="auto">
          <a:xfrm>
            <a:off x="8942805" y="88667"/>
            <a:ext cx="110247" cy="97844"/>
          </a:xfrm>
          <a:custGeom>
            <a:avLst/>
            <a:gdLst>
              <a:gd name="T0" fmla="*/ 2030 w 4061"/>
              <a:gd name="T1" fmla="*/ 0 h 3431"/>
              <a:gd name="T2" fmla="*/ 2793 w 4061"/>
              <a:gd name="T3" fmla="*/ 762 h 3431"/>
              <a:gd name="T4" fmla="*/ 2793 w 4061"/>
              <a:gd name="T5" fmla="*/ 127 h 3431"/>
              <a:gd name="T6" fmla="*/ 3300 w 4061"/>
              <a:gd name="T7" fmla="*/ 127 h 3431"/>
              <a:gd name="T8" fmla="*/ 3300 w 4061"/>
              <a:gd name="T9" fmla="*/ 1271 h 3431"/>
              <a:gd name="T10" fmla="*/ 4061 w 4061"/>
              <a:gd name="T11" fmla="*/ 2033 h 3431"/>
              <a:gd name="T12" fmla="*/ 4061 w 4061"/>
              <a:gd name="T13" fmla="*/ 2160 h 3431"/>
              <a:gd name="T14" fmla="*/ 3554 w 4061"/>
              <a:gd name="T15" fmla="*/ 2160 h 3431"/>
              <a:gd name="T16" fmla="*/ 3554 w 4061"/>
              <a:gd name="T17" fmla="*/ 3431 h 3431"/>
              <a:gd name="T18" fmla="*/ 2284 w 4061"/>
              <a:gd name="T19" fmla="*/ 3431 h 3431"/>
              <a:gd name="T20" fmla="*/ 2284 w 4061"/>
              <a:gd name="T21" fmla="*/ 2669 h 3431"/>
              <a:gd name="T22" fmla="*/ 1776 w 4061"/>
              <a:gd name="T23" fmla="*/ 2669 h 3431"/>
              <a:gd name="T24" fmla="*/ 1776 w 4061"/>
              <a:gd name="T25" fmla="*/ 3431 h 3431"/>
              <a:gd name="T26" fmla="*/ 508 w 4061"/>
              <a:gd name="T27" fmla="*/ 3431 h 3431"/>
              <a:gd name="T28" fmla="*/ 508 w 4061"/>
              <a:gd name="T29" fmla="*/ 2160 h 3431"/>
              <a:gd name="T30" fmla="*/ 0 w 4061"/>
              <a:gd name="T31" fmla="*/ 2160 h 3431"/>
              <a:gd name="T32" fmla="*/ 0 w 4061"/>
              <a:gd name="T33" fmla="*/ 2033 h 3431"/>
              <a:gd name="T34" fmla="*/ 2030 w 4061"/>
              <a:gd name="T35" fmla="*/ 0 h 3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61" h="3431">
                <a:moveTo>
                  <a:pt x="2030" y="0"/>
                </a:moveTo>
                <a:lnTo>
                  <a:pt x="2793" y="762"/>
                </a:lnTo>
                <a:lnTo>
                  <a:pt x="2793" y="127"/>
                </a:lnTo>
                <a:lnTo>
                  <a:pt x="3300" y="127"/>
                </a:lnTo>
                <a:lnTo>
                  <a:pt x="3300" y="1271"/>
                </a:lnTo>
                <a:lnTo>
                  <a:pt x="4061" y="2033"/>
                </a:lnTo>
                <a:lnTo>
                  <a:pt x="4061" y="2160"/>
                </a:lnTo>
                <a:lnTo>
                  <a:pt x="3554" y="2160"/>
                </a:lnTo>
                <a:lnTo>
                  <a:pt x="3554" y="3431"/>
                </a:lnTo>
                <a:lnTo>
                  <a:pt x="2284" y="3431"/>
                </a:lnTo>
                <a:lnTo>
                  <a:pt x="2284" y="2669"/>
                </a:lnTo>
                <a:lnTo>
                  <a:pt x="1776" y="2669"/>
                </a:lnTo>
                <a:lnTo>
                  <a:pt x="1776" y="3431"/>
                </a:lnTo>
                <a:lnTo>
                  <a:pt x="508" y="3431"/>
                </a:lnTo>
                <a:lnTo>
                  <a:pt x="508" y="2160"/>
                </a:lnTo>
                <a:lnTo>
                  <a:pt x="0" y="2160"/>
                </a:lnTo>
                <a:lnTo>
                  <a:pt x="0" y="2033"/>
                </a:lnTo>
                <a:lnTo>
                  <a:pt x="2030" y="0"/>
                </a:lnTo>
                <a:close/>
              </a:path>
            </a:pathLst>
          </a:custGeom>
          <a:solidFill>
            <a:srgbClr val="494D4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67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701" r:id="rId2"/>
    <p:sldLayoutId id="2147483706" r:id="rId3"/>
    <p:sldLayoutId id="2147483704" r:id="rId4"/>
    <p:sldLayoutId id="2147483694" r:id="rId5"/>
    <p:sldLayoutId id="2147483695" r:id="rId6"/>
    <p:sldLayoutId id="2147483696" r:id="rId7"/>
    <p:sldLayoutId id="2147483707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7963" y="4340350"/>
            <a:ext cx="5170226" cy="6386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SRG Unified Dashboard Demo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886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1978D9-4B44-406D-1337-F31E954C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approach – Monitoring 4 different screens at a time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349FA8-6A0C-3081-FF5E-C15B4350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0" y="276326"/>
            <a:ext cx="4334325" cy="17634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74FDA7-3FCE-3860-57AF-2F29DDDD16AB}"/>
              </a:ext>
            </a:extLst>
          </p:cNvPr>
          <p:cNvSpPr txBox="1"/>
          <p:nvPr/>
        </p:nvSpPr>
        <p:spPr>
          <a:xfrm>
            <a:off x="1690253" y="602895"/>
            <a:ext cx="2563340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1. Dashboard of Cluster Monitor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9A4A9-A849-CC1E-2635-C90D2CB41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522" y="276327"/>
            <a:ext cx="4407804" cy="17634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DEBD32-30B1-E5BE-3E4D-F58FDC595AA2}"/>
              </a:ext>
            </a:extLst>
          </p:cNvPr>
          <p:cNvSpPr txBox="1"/>
          <p:nvPr/>
        </p:nvSpPr>
        <p:spPr>
          <a:xfrm>
            <a:off x="4634842" y="602895"/>
            <a:ext cx="2190501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2. Database Monitor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BF9CDB-5DFF-118C-B95A-B805EB2D6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0" y="2114556"/>
            <a:ext cx="4334325" cy="17634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5975540-711F-971D-6974-FFB62DFBDA0F}"/>
              </a:ext>
            </a:extLst>
          </p:cNvPr>
          <p:cNvSpPr txBox="1"/>
          <p:nvPr/>
        </p:nvSpPr>
        <p:spPr>
          <a:xfrm>
            <a:off x="125435" y="2555428"/>
            <a:ext cx="1931965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3.  Batch Monitor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89A76-2BCF-2E53-5E68-A30C78510B31}"/>
              </a:ext>
            </a:extLst>
          </p:cNvPr>
          <p:cNvSpPr txBox="1"/>
          <p:nvPr/>
        </p:nvSpPr>
        <p:spPr>
          <a:xfrm>
            <a:off x="4498522" y="2098228"/>
            <a:ext cx="4407804" cy="30008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F86298-8929-A918-95DB-68B4D253F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638" y="2447876"/>
            <a:ext cx="4098777" cy="613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A032DD-E7D7-5A64-7114-C1819F4D9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7638" y="3796773"/>
            <a:ext cx="4098777" cy="5560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F831398-A414-BB34-2940-D2FDAA6F5D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9470" y="4409310"/>
            <a:ext cx="4098777" cy="5141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EC547BD-91DF-0180-E565-BD629E1D70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7638" y="3118925"/>
            <a:ext cx="4090609" cy="613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23C2DA1-D80F-12F2-3F15-F820838BA894}"/>
              </a:ext>
            </a:extLst>
          </p:cNvPr>
          <p:cNvSpPr txBox="1"/>
          <p:nvPr/>
        </p:nvSpPr>
        <p:spPr>
          <a:xfrm>
            <a:off x="5372349" y="2142070"/>
            <a:ext cx="3363437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4.  Mailbox monitoring for critical email </a:t>
            </a:r>
            <a:r>
              <a:rPr lang="en-US" sz="1200" b="1" dirty="0" err="1">
                <a:solidFill>
                  <a:schemeClr val="bg1"/>
                </a:solidFill>
              </a:rPr>
              <a:t>aerts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A2D703-86A7-4C69-4CA7-28E048014E42}"/>
              </a:ext>
            </a:extLst>
          </p:cNvPr>
          <p:cNvSpPr txBox="1"/>
          <p:nvPr/>
        </p:nvSpPr>
        <p:spPr>
          <a:xfrm>
            <a:off x="58060" y="3951514"/>
            <a:ext cx="433432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Challenges :</a:t>
            </a:r>
            <a:r>
              <a:rPr lang="en-IN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Strict SLAs of Code Blue, Prove/Payphone alerts.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Eye on glass monitoring of multiple screens.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High risk of delaying the critical actions.</a:t>
            </a:r>
          </a:p>
        </p:txBody>
      </p:sp>
    </p:spTree>
    <p:extLst>
      <p:ext uri="{BB962C8B-B14F-4D97-AF65-F5344CB8AC3E}">
        <p14:creationId xmlns:p14="http://schemas.microsoft.com/office/powerpoint/2010/main" val="5641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9B27F-5CE1-D2E1-39FC-E503E403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CF279B-9EBA-4FC5-93CD-6F8E12D0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Improved approach – Unified SRG Dashboard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98DCF-6EBF-2003-E94A-CDA533B3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4" y="628236"/>
            <a:ext cx="9046029" cy="2621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53ADA18D-BAAB-5F5B-8C3A-C7BC487192F4}"/>
              </a:ext>
            </a:extLst>
          </p:cNvPr>
          <p:cNvSpPr txBox="1">
            <a:spLocks/>
          </p:cNvSpPr>
          <p:nvPr/>
        </p:nvSpPr>
        <p:spPr>
          <a:xfrm>
            <a:off x="49897" y="296249"/>
            <a:ext cx="8857341" cy="3175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200" b="1" kern="12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IN" sz="1100" dirty="0">
                <a:solidFill>
                  <a:srgbClr val="C00000"/>
                </a:solidFill>
              </a:rPr>
              <a:t>Cybage Monitoring team developed a single Dashboard – Single point of monitoring for all the alerts with added features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2536A-1C2D-E5B6-C4FC-374F0C63CD2C}"/>
              </a:ext>
            </a:extLst>
          </p:cNvPr>
          <p:cNvSpPr txBox="1"/>
          <p:nvPr/>
        </p:nvSpPr>
        <p:spPr>
          <a:xfrm>
            <a:off x="64009" y="3536465"/>
            <a:ext cx="7989570" cy="1453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All screens brought onto single dashboard.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This highlights only failures so quick to act on the alert.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Every new alerts pop up the notification as well and generate the system buzz.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On-call rosters integrated, so no need to visit confluences every time.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Draft readily available to post updates in the team's chat.  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Tags respective on-call personnel on the team's 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07672-3B07-9627-652D-45FF024A3CC0}"/>
              </a:ext>
            </a:extLst>
          </p:cNvPr>
          <p:cNvSpPr txBox="1"/>
          <p:nvPr/>
        </p:nvSpPr>
        <p:spPr>
          <a:xfrm>
            <a:off x="95363" y="3281435"/>
            <a:ext cx="2039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34FE7-4C34-E81B-2388-38CB7BEE1D19}"/>
              </a:ext>
            </a:extLst>
          </p:cNvPr>
          <p:cNvSpPr txBox="1"/>
          <p:nvPr/>
        </p:nvSpPr>
        <p:spPr>
          <a:xfrm>
            <a:off x="1404503" y="1485895"/>
            <a:ext cx="1126426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1</a:t>
            </a:r>
            <a:r>
              <a:rPr lang="en-US" sz="800" b="1" baseline="30000" dirty="0">
                <a:solidFill>
                  <a:schemeClr val="bg1"/>
                </a:solidFill>
              </a:rPr>
              <a:t>st</a:t>
            </a:r>
            <a:r>
              <a:rPr lang="en-US" sz="800" b="1" dirty="0">
                <a:solidFill>
                  <a:schemeClr val="bg1"/>
                </a:solidFill>
              </a:rPr>
              <a:t>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399E7-53C4-2F2E-9786-88C854C66FA7}"/>
              </a:ext>
            </a:extLst>
          </p:cNvPr>
          <p:cNvSpPr txBox="1"/>
          <p:nvPr/>
        </p:nvSpPr>
        <p:spPr>
          <a:xfrm>
            <a:off x="3687778" y="1475010"/>
            <a:ext cx="1126426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2</a:t>
            </a:r>
            <a:r>
              <a:rPr lang="en-US" sz="800" b="1" baseline="30000" dirty="0">
                <a:solidFill>
                  <a:schemeClr val="bg1"/>
                </a:solidFill>
              </a:rPr>
              <a:t>nd</a:t>
            </a:r>
            <a:r>
              <a:rPr lang="en-US" sz="800" b="1" dirty="0">
                <a:solidFill>
                  <a:schemeClr val="bg1"/>
                </a:solidFill>
              </a:rPr>
              <a:t> Dashboard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0CB60-873B-0C61-71DD-FEF8202E4475}"/>
              </a:ext>
            </a:extLst>
          </p:cNvPr>
          <p:cNvSpPr txBox="1"/>
          <p:nvPr/>
        </p:nvSpPr>
        <p:spPr>
          <a:xfrm>
            <a:off x="6460916" y="1488621"/>
            <a:ext cx="1126426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3</a:t>
            </a:r>
            <a:r>
              <a:rPr lang="en-US" sz="800" b="1" baseline="30000" dirty="0">
                <a:solidFill>
                  <a:schemeClr val="bg1"/>
                </a:solidFill>
              </a:rPr>
              <a:t>rd</a:t>
            </a:r>
            <a:r>
              <a:rPr lang="en-US" sz="800" b="1" dirty="0">
                <a:solidFill>
                  <a:schemeClr val="bg1"/>
                </a:solidFill>
              </a:rPr>
              <a:t> Dashboard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54725-20B6-DF88-0095-7C03D520B397}"/>
              </a:ext>
            </a:extLst>
          </p:cNvPr>
          <p:cNvSpPr txBox="1"/>
          <p:nvPr/>
        </p:nvSpPr>
        <p:spPr>
          <a:xfrm>
            <a:off x="8142760" y="1496785"/>
            <a:ext cx="952253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4</a:t>
            </a:r>
            <a:r>
              <a:rPr lang="en-US" sz="800" b="1" baseline="30000" dirty="0">
                <a:solidFill>
                  <a:schemeClr val="bg1"/>
                </a:solidFill>
              </a:rPr>
              <a:t>th</a:t>
            </a:r>
            <a:r>
              <a:rPr lang="en-US" sz="800" b="1" dirty="0">
                <a:solidFill>
                  <a:schemeClr val="bg1"/>
                </a:solidFill>
              </a:rPr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120787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45A8-90DB-8319-38DA-7A4119E0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DAAE65-3AE8-F9AB-A406-012307C2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state - Complete automation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E65B6-1B6A-7FE8-17A7-638965752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426" y="536111"/>
            <a:ext cx="2789330" cy="28108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1B2E2B4-C1EF-870D-69FC-F291C49E5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8" y="536111"/>
            <a:ext cx="5687954" cy="2830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540E9D6-B315-2F46-185A-A03425C338F1}"/>
              </a:ext>
            </a:extLst>
          </p:cNvPr>
          <p:cNvSpPr/>
          <p:nvPr/>
        </p:nvSpPr>
        <p:spPr>
          <a:xfrm>
            <a:off x="5388429" y="2556147"/>
            <a:ext cx="914400" cy="3175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EAF5D-2A1B-0C34-E1FA-23969B0B1BB9}"/>
              </a:ext>
            </a:extLst>
          </p:cNvPr>
          <p:cNvSpPr txBox="1"/>
          <p:nvPr/>
        </p:nvSpPr>
        <p:spPr>
          <a:xfrm>
            <a:off x="64009" y="3773231"/>
            <a:ext cx="7989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Complete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Auto message posting when alert is generated, tagging the on-call personnel.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Auto paging to respective teams if alert is not acknowledged.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5E7E8D-A0D6-3ACD-BF69-04D0776CC890}"/>
              </a:ext>
            </a:extLst>
          </p:cNvPr>
          <p:cNvSpPr txBox="1"/>
          <p:nvPr/>
        </p:nvSpPr>
        <p:spPr>
          <a:xfrm>
            <a:off x="95363" y="3518201"/>
            <a:ext cx="2039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346018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7146" y="4216767"/>
            <a:ext cx="4700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Segoe UI" panose="020B0502040204020203" pitchFamily="34" charset="0"/>
                <a:ea typeface="Adobe Gothic Std B" pitchFamily="34" charset="-128"/>
                <a:cs typeface="Segoe UI" panose="020B0502040204020203" pitchFamily="34" charset="0"/>
              </a:rPr>
              <a:t>Thank You!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36991" y="144647"/>
            <a:ext cx="1564795" cy="548640"/>
            <a:chOff x="2315820" y="135247"/>
            <a:chExt cx="1564795" cy="548640"/>
          </a:xfrm>
        </p:grpSpPr>
        <p:sp>
          <p:nvSpPr>
            <p:cNvPr id="12" name="Rectangle 11"/>
            <p:cNvSpPr/>
            <p:nvPr/>
          </p:nvSpPr>
          <p:spPr>
            <a:xfrm>
              <a:off x="2315820" y="135247"/>
              <a:ext cx="1564795" cy="548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7866" y="266688"/>
              <a:ext cx="1260702" cy="285759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7480909" y="144647"/>
            <a:ext cx="1564795" cy="548640"/>
            <a:chOff x="7242878" y="197122"/>
            <a:chExt cx="1564795" cy="548640"/>
          </a:xfrm>
        </p:grpSpPr>
        <p:sp>
          <p:nvSpPr>
            <p:cNvPr id="15" name="Rectangle 14"/>
            <p:cNvSpPr/>
            <p:nvPr/>
          </p:nvSpPr>
          <p:spPr>
            <a:xfrm>
              <a:off x="7242878" y="197122"/>
              <a:ext cx="1564795" cy="548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0476" y="249598"/>
              <a:ext cx="1309598" cy="443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265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e9f7f0e-7d96-445a-9c75-e41e40dff102}" enabled="1" method="Standard" siteId="{0685d760-4332-4f24-b2ea-ffbbc2383f1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375218</TotalTime>
  <Words>205</Words>
  <Application>Microsoft Office PowerPoint</Application>
  <PresentationFormat>Custom</PresentationFormat>
  <Paragraphs>44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Kozuka Gothic Pro M</vt:lpstr>
      <vt:lpstr>Segoe UI</vt:lpstr>
      <vt:lpstr>Segoe UI Light</vt:lpstr>
      <vt:lpstr>Office Theme</vt:lpstr>
      <vt:lpstr>PowerPoint Presentation</vt:lpstr>
      <vt:lpstr>Traditional approach – Monitoring 4 different screens at a time</vt:lpstr>
      <vt:lpstr>Improved approach – Unified SRG Dashboard</vt:lpstr>
      <vt:lpstr>Future state - Complete automation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Ratan</dc:creator>
  <cp:lastModifiedBy>Pandit, Vinod (Contractor)</cp:lastModifiedBy>
  <cp:revision>14212</cp:revision>
  <dcterms:created xsi:type="dcterms:W3CDTF">2017-01-23T10:08:49Z</dcterms:created>
  <dcterms:modified xsi:type="dcterms:W3CDTF">2026-09-06T13:26:35Z</dcterms:modified>
</cp:coreProperties>
</file>